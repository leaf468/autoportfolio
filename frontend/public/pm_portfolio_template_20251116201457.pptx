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4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22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71AE3-E598-77F9-A688-44B2E03CF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B9E40-E669-80F6-D9D1-0146B8B78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D17CC-FDE6-661C-7E56-04FBDC0FC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508E9-5CFA-0F2A-3C75-AF2C6F1F7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38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B09B-A09A-A5BF-C011-5C882AED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AC7EC-4644-9EFC-218A-81EF8DCFA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1C40A-0DBB-144F-66D8-4C33DD14D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B154E-2A32-9101-1CE8-FBDB64E20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9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1257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14807"/>
            <a:ext cx="708713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609904" y="3114446"/>
            <a:ext cx="945854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[직무/포지션]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905" y="5286146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09905" y="5524805"/>
            <a:ext cx="5486095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9904" y="5810098"/>
            <a:ext cx="5486095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[전화번호]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904" y="6096305"/>
            <a:ext cx="82527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[포트폴리오/웹 링크]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333756"/>
            <a:ext cx="1524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199" y="907085"/>
            <a:ext cx="9812216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[부제/한 줄 소개]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2475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05002" y="2243938"/>
            <a:ext cx="11292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타임라인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77279" y="2243938"/>
            <a:ext cx="8339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스킬/역량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2653589"/>
            <a:ext cx="9144" cy="1666951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2653589"/>
            <a:ext cx="95098" cy="95098"/>
          </a:xfrm>
          <a:prstGeom prst="roundRect">
            <a:avLst>
              <a:gd name="adj" fmla="val 961534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009498" y="2653588"/>
            <a:ext cx="46202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[YYYY–YYYY] [회사/조직]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9498" y="2882189"/>
            <a:ext cx="504992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[직무/직책] — [핵심 역할]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1695" y="3272638"/>
            <a:ext cx="95098" cy="95098"/>
          </a:xfrm>
          <a:prstGeom prst="roundRect">
            <a:avLst>
              <a:gd name="adj" fmla="val 961534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9498" y="3272638"/>
            <a:ext cx="50865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[YYYY–YYYY] [회사/조직]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9498" y="3501238"/>
            <a:ext cx="50401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[직무/직책] — [핵심 역할]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1695" y="3891686"/>
            <a:ext cx="95098" cy="95098"/>
          </a:xfrm>
          <a:prstGeom prst="roundRect">
            <a:avLst>
              <a:gd name="adj" fmla="val 961534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009498" y="3891686"/>
            <a:ext cx="5086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[YYYY–YYYY] [회사/조직]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9498" y="4120286"/>
            <a:ext cx="5049926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[직무/직책] — [핵심 역할]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86500" y="2653589"/>
            <a:ext cx="3276295" cy="19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[전략/로드맵]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86500" y="3082442"/>
            <a:ext cx="35433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[Discovery/리서치]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86500" y="3511295"/>
            <a:ext cx="3801161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[데이터/실험]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86500" y="2853842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286500" y="3282696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86500" y="3710635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86500" y="2853842"/>
            <a:ext cx="3819449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286500" y="3282696"/>
            <a:ext cx="3543300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86500" y="3710635"/>
            <a:ext cx="3276295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534302" y="4091940"/>
            <a:ext cx="12819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하이라이트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86500" y="4463186"/>
            <a:ext cx="2648102" cy="809244"/>
          </a:xfrm>
          <a:prstGeom prst="roundRect">
            <a:avLst>
              <a:gd name="adj" fmla="val 79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087307" y="4463186"/>
            <a:ext cx="2648102" cy="809244"/>
          </a:xfrm>
          <a:prstGeom prst="roundRect">
            <a:avLst>
              <a:gd name="adj" fmla="val 79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09944" y="4587544"/>
            <a:ext cx="252465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10750" y="4587545"/>
            <a:ext cx="2264467" cy="212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9944" y="4863694"/>
            <a:ext cx="2400300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210751" y="4863694"/>
            <a:ext cx="2400300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409944" y="4863694"/>
            <a:ext cx="1447495" cy="75895"/>
          </a:xfrm>
          <a:prstGeom prst="roundRect">
            <a:avLst>
              <a:gd name="adj" fmla="val 602411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210751" y="4863694"/>
            <a:ext cx="1324051" cy="75895"/>
          </a:xfrm>
          <a:prstGeom prst="roundRect">
            <a:avLst>
              <a:gd name="adj" fmla="val 602411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409944" y="4977994"/>
            <a:ext cx="2400300" cy="141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210751" y="4977994"/>
            <a:ext cx="2523744" cy="166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086246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57200" y="624809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292194" y="624809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128102" y="624809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800100" y="6262726"/>
            <a:ext cx="3377794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[가치관/방식: 키워드 1]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635094" y="6262725"/>
            <a:ext cx="3378708" cy="213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[가치관/방식: 키워드 2]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471002" y="6262726"/>
            <a:ext cx="3140049" cy="213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[가치관/방식: 키워드 3]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333756"/>
            <a:ext cx="1819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1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199" y="868680"/>
            <a:ext cx="90083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 | [기간] · [역할/책임]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83487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2099050"/>
            <a:ext cx="11277295" cy="724205"/>
          </a:xfrm>
          <a:prstGeom prst="roundRect">
            <a:avLst>
              <a:gd name="adj" fmla="val 996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403155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26553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56385" y="2252167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98760" y="225216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21243" y="2252167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56385" y="2480767"/>
            <a:ext cx="294071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[리서치/문제정의]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98760" y="2480767"/>
            <a:ext cx="314585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[우선순위/실행]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21243" y="2480767"/>
            <a:ext cx="270421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[출시/학습]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7114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61695" y="3256514"/>
            <a:ext cx="833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배경/목표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90995" y="3256514"/>
            <a:ext cx="1224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지표(KPI)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199" y="3628674"/>
            <a:ext cx="4701845" cy="53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[비즈니스/사용자 문제 요약]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199" y="4220285"/>
            <a:ext cx="5009103" cy="538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[목표/핵심 가설]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4809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61695" y="5033461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범위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90995" y="4958091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결과/임팩트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404706"/>
            <a:ext cx="5171846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[참여 팀/이해관계자]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86500" y="327114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86500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153705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019995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409944" y="3752118"/>
            <a:ext cx="159105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77148" y="3752118"/>
            <a:ext cx="14998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144353" y="3752118"/>
            <a:ext cx="1381105" cy="18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9944" y="3989862"/>
            <a:ext cx="1591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77149" y="3989862"/>
            <a:ext cx="14998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144354" y="3989862"/>
            <a:ext cx="15117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09944" y="4314474"/>
            <a:ext cx="1527048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77149" y="4314474"/>
            <a:ext cx="1499896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144354" y="4314474"/>
            <a:ext cx="1381104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86500" y="497272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6286500" y="533025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정량: [결과 수치]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286500" y="5730876"/>
            <a:ext cx="5640893" cy="56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정성: [사용자/스테이크홀더 피드백]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8626-B550-38D7-9C12-2814987F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24FBD80-E996-F4CC-A847-27CB87844CB8}"/>
              </a:ext>
            </a:extLst>
          </p:cNvPr>
          <p:cNvSpPr txBox="1"/>
          <p:nvPr/>
        </p:nvSpPr>
        <p:spPr>
          <a:xfrm>
            <a:off x="457200" y="333756"/>
            <a:ext cx="1819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7A7273-B9C7-E445-0AEF-6F6FC2BB6CB3}"/>
              </a:ext>
            </a:extLst>
          </p:cNvPr>
          <p:cNvSpPr txBox="1"/>
          <p:nvPr/>
        </p:nvSpPr>
        <p:spPr>
          <a:xfrm>
            <a:off x="457199" y="868680"/>
            <a:ext cx="90083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 | [기간] · [역할/책임]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EBBE68-0480-6115-7355-EF2D22846692}"/>
              </a:ext>
            </a:extLst>
          </p:cNvPr>
          <p:cNvSpPr/>
          <p:nvPr/>
        </p:nvSpPr>
        <p:spPr>
          <a:xfrm>
            <a:off x="457200" y="1383487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C7A663-BD1B-695B-AA06-8F29AF01F12E}"/>
              </a:ext>
            </a:extLst>
          </p:cNvPr>
          <p:cNvSpPr/>
          <p:nvPr/>
        </p:nvSpPr>
        <p:spPr>
          <a:xfrm>
            <a:off x="457200" y="2099050"/>
            <a:ext cx="11277295" cy="724205"/>
          </a:xfrm>
          <a:prstGeom prst="roundRect">
            <a:avLst>
              <a:gd name="adj" fmla="val 996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FBDFF5-06E3-70D7-CA54-5F4CE1034DEF}"/>
              </a:ext>
            </a:extLst>
          </p:cNvPr>
          <p:cNvSpPr/>
          <p:nvPr/>
        </p:nvSpPr>
        <p:spPr>
          <a:xfrm>
            <a:off x="761695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B0653DF-D494-CF3D-F46F-0E4979A5E622}"/>
              </a:ext>
            </a:extLst>
          </p:cNvPr>
          <p:cNvSpPr/>
          <p:nvPr/>
        </p:nvSpPr>
        <p:spPr>
          <a:xfrm>
            <a:off x="4403155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8E40B1F-E979-7E3B-6737-CDF68149F04B}"/>
              </a:ext>
            </a:extLst>
          </p:cNvPr>
          <p:cNvSpPr/>
          <p:nvPr/>
        </p:nvSpPr>
        <p:spPr>
          <a:xfrm>
            <a:off x="8326553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D5B7DB-B267-C9A8-B40A-46AD93EEBA91}"/>
              </a:ext>
            </a:extLst>
          </p:cNvPr>
          <p:cNvSpPr txBox="1"/>
          <p:nvPr/>
        </p:nvSpPr>
        <p:spPr>
          <a:xfrm>
            <a:off x="1256385" y="2252167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08B351-732F-4F56-9177-8A9C10A30C82}"/>
              </a:ext>
            </a:extLst>
          </p:cNvPr>
          <p:cNvSpPr txBox="1"/>
          <p:nvPr/>
        </p:nvSpPr>
        <p:spPr>
          <a:xfrm>
            <a:off x="4898760" y="225216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15B652-A5D6-C487-76C3-0A76623B722F}"/>
              </a:ext>
            </a:extLst>
          </p:cNvPr>
          <p:cNvSpPr txBox="1"/>
          <p:nvPr/>
        </p:nvSpPr>
        <p:spPr>
          <a:xfrm>
            <a:off x="8821243" y="2252167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C805EC-AE11-36F9-5FE7-62092772708D}"/>
              </a:ext>
            </a:extLst>
          </p:cNvPr>
          <p:cNvSpPr txBox="1"/>
          <p:nvPr/>
        </p:nvSpPr>
        <p:spPr>
          <a:xfrm>
            <a:off x="1256385" y="2480767"/>
            <a:ext cx="294071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[리서치/문제정의]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787DEC-7BB2-E83D-6F22-BA72C30067B0}"/>
              </a:ext>
            </a:extLst>
          </p:cNvPr>
          <p:cNvSpPr txBox="1"/>
          <p:nvPr/>
        </p:nvSpPr>
        <p:spPr>
          <a:xfrm>
            <a:off x="4898760" y="2480767"/>
            <a:ext cx="314585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[우선순위/실행]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A28671A-F91E-7992-3F22-6CFE8E7CB93A}"/>
              </a:ext>
            </a:extLst>
          </p:cNvPr>
          <p:cNvSpPr txBox="1"/>
          <p:nvPr/>
        </p:nvSpPr>
        <p:spPr>
          <a:xfrm>
            <a:off x="8821243" y="2480767"/>
            <a:ext cx="270421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[출시/학습]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68E37AA-71ED-3FF3-C1EE-544AA3694BE9}"/>
              </a:ext>
            </a:extLst>
          </p:cNvPr>
          <p:cNvSpPr/>
          <p:nvPr/>
        </p:nvSpPr>
        <p:spPr>
          <a:xfrm>
            <a:off x="457200" y="327114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6DABB77-A4C4-7DAF-6AAB-79572AEEE673}"/>
              </a:ext>
            </a:extLst>
          </p:cNvPr>
          <p:cNvSpPr txBox="1"/>
          <p:nvPr/>
        </p:nvSpPr>
        <p:spPr>
          <a:xfrm>
            <a:off x="761695" y="3256514"/>
            <a:ext cx="833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배경/목표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DA9090D-816D-E9B4-CD0F-3693BB412A41}"/>
              </a:ext>
            </a:extLst>
          </p:cNvPr>
          <p:cNvSpPr txBox="1"/>
          <p:nvPr/>
        </p:nvSpPr>
        <p:spPr>
          <a:xfrm>
            <a:off x="6590995" y="3256514"/>
            <a:ext cx="1224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지표(KPI)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8670D1-BC12-4AD9-651A-8B15DAA77C5F}"/>
              </a:ext>
            </a:extLst>
          </p:cNvPr>
          <p:cNvSpPr txBox="1"/>
          <p:nvPr/>
        </p:nvSpPr>
        <p:spPr>
          <a:xfrm>
            <a:off x="457199" y="3628674"/>
            <a:ext cx="4701845" cy="53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[비즈니스/사용자 문제 요약]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8D51670-5811-4D7F-F929-5218BD02C1AE}"/>
              </a:ext>
            </a:extLst>
          </p:cNvPr>
          <p:cNvSpPr txBox="1"/>
          <p:nvPr/>
        </p:nvSpPr>
        <p:spPr>
          <a:xfrm>
            <a:off x="457199" y="4220285"/>
            <a:ext cx="5009103" cy="538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[목표/핵심 가설]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01E4E64-1379-EDF0-7060-432953F9668D}"/>
              </a:ext>
            </a:extLst>
          </p:cNvPr>
          <p:cNvSpPr/>
          <p:nvPr/>
        </p:nvSpPr>
        <p:spPr>
          <a:xfrm>
            <a:off x="457200" y="504809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0E9CA08-1979-0BF9-1B31-90016F6E4172}"/>
              </a:ext>
            </a:extLst>
          </p:cNvPr>
          <p:cNvSpPr txBox="1"/>
          <p:nvPr/>
        </p:nvSpPr>
        <p:spPr>
          <a:xfrm>
            <a:off x="761695" y="5033461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범위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94AB798-13A7-58DE-C50E-828BB8608277}"/>
              </a:ext>
            </a:extLst>
          </p:cNvPr>
          <p:cNvSpPr txBox="1"/>
          <p:nvPr/>
        </p:nvSpPr>
        <p:spPr>
          <a:xfrm>
            <a:off x="6590995" y="4958091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결과/임팩트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1FCE83B-A677-4753-66B3-7BEEF58AE9BF}"/>
              </a:ext>
            </a:extLst>
          </p:cNvPr>
          <p:cNvSpPr txBox="1"/>
          <p:nvPr/>
        </p:nvSpPr>
        <p:spPr>
          <a:xfrm>
            <a:off x="457200" y="5404706"/>
            <a:ext cx="5171846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[참여 팀/이해관계자]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E56AA12-6536-A058-1141-5B3DA13F50B0}"/>
              </a:ext>
            </a:extLst>
          </p:cNvPr>
          <p:cNvSpPr/>
          <p:nvPr/>
        </p:nvSpPr>
        <p:spPr>
          <a:xfrm>
            <a:off x="6286500" y="327114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1DD7134-2075-B569-F313-23B7E491D9BF}"/>
              </a:ext>
            </a:extLst>
          </p:cNvPr>
          <p:cNvSpPr/>
          <p:nvPr/>
        </p:nvSpPr>
        <p:spPr>
          <a:xfrm>
            <a:off x="6286500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3EED562-0334-FAD3-CE5A-35D3A0FE0808}"/>
              </a:ext>
            </a:extLst>
          </p:cNvPr>
          <p:cNvSpPr/>
          <p:nvPr/>
        </p:nvSpPr>
        <p:spPr>
          <a:xfrm>
            <a:off x="8153705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5F610E5-0E3D-EF02-158F-F7D7A6928C1F}"/>
              </a:ext>
            </a:extLst>
          </p:cNvPr>
          <p:cNvSpPr/>
          <p:nvPr/>
        </p:nvSpPr>
        <p:spPr>
          <a:xfrm>
            <a:off x="10019995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60C60B6-13AA-3537-3285-32C2F1AAAA68}"/>
              </a:ext>
            </a:extLst>
          </p:cNvPr>
          <p:cNvSpPr txBox="1"/>
          <p:nvPr/>
        </p:nvSpPr>
        <p:spPr>
          <a:xfrm>
            <a:off x="6409944" y="3752118"/>
            <a:ext cx="159105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01B4A5E-43F3-DF8B-E226-B76D397B079F}"/>
              </a:ext>
            </a:extLst>
          </p:cNvPr>
          <p:cNvSpPr txBox="1"/>
          <p:nvPr/>
        </p:nvSpPr>
        <p:spPr>
          <a:xfrm>
            <a:off x="8277148" y="3752118"/>
            <a:ext cx="14998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52A7077-1618-55D9-43CE-D31FD9440DD3}"/>
              </a:ext>
            </a:extLst>
          </p:cNvPr>
          <p:cNvSpPr txBox="1"/>
          <p:nvPr/>
        </p:nvSpPr>
        <p:spPr>
          <a:xfrm>
            <a:off x="10144353" y="3752118"/>
            <a:ext cx="1381105" cy="18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D6219DD-2B01-FA26-DD96-D028D889E35D}"/>
              </a:ext>
            </a:extLst>
          </p:cNvPr>
          <p:cNvSpPr txBox="1"/>
          <p:nvPr/>
        </p:nvSpPr>
        <p:spPr>
          <a:xfrm>
            <a:off x="6409944" y="3989862"/>
            <a:ext cx="1591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9BC4439-EF50-259E-0648-F4E2AA63FA05}"/>
              </a:ext>
            </a:extLst>
          </p:cNvPr>
          <p:cNvSpPr txBox="1"/>
          <p:nvPr/>
        </p:nvSpPr>
        <p:spPr>
          <a:xfrm>
            <a:off x="8277149" y="3989862"/>
            <a:ext cx="14998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1EB0915-42F6-722F-7C35-D3E1FBFBAB07}"/>
              </a:ext>
            </a:extLst>
          </p:cNvPr>
          <p:cNvSpPr txBox="1"/>
          <p:nvPr/>
        </p:nvSpPr>
        <p:spPr>
          <a:xfrm>
            <a:off x="10144354" y="3989862"/>
            <a:ext cx="15117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83DAB5B-0C1C-BA7C-0E35-86A54B507AFF}"/>
              </a:ext>
            </a:extLst>
          </p:cNvPr>
          <p:cNvSpPr txBox="1"/>
          <p:nvPr/>
        </p:nvSpPr>
        <p:spPr>
          <a:xfrm>
            <a:off x="6409944" y="4314474"/>
            <a:ext cx="1527048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A3B9DCB-0444-E352-C8C8-E0FA4697D297}"/>
              </a:ext>
            </a:extLst>
          </p:cNvPr>
          <p:cNvSpPr txBox="1"/>
          <p:nvPr/>
        </p:nvSpPr>
        <p:spPr>
          <a:xfrm>
            <a:off x="8277149" y="4314474"/>
            <a:ext cx="1499896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3F39AED-5001-EF22-1F26-031CE46DACA0}"/>
              </a:ext>
            </a:extLst>
          </p:cNvPr>
          <p:cNvSpPr txBox="1"/>
          <p:nvPr/>
        </p:nvSpPr>
        <p:spPr>
          <a:xfrm>
            <a:off x="10144354" y="4314474"/>
            <a:ext cx="1381104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63DDA79-54B2-09AF-DD5D-A3133DC4D17F}"/>
              </a:ext>
            </a:extLst>
          </p:cNvPr>
          <p:cNvSpPr/>
          <p:nvPr/>
        </p:nvSpPr>
        <p:spPr>
          <a:xfrm>
            <a:off x="6286500" y="497272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B27F6CC-9E32-78C0-1258-A2740168B6C4}"/>
              </a:ext>
            </a:extLst>
          </p:cNvPr>
          <p:cNvSpPr txBox="1"/>
          <p:nvPr/>
        </p:nvSpPr>
        <p:spPr>
          <a:xfrm>
            <a:off x="6286500" y="533025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정량: [결과 수치]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7F42A30-F2FD-C718-2AC6-05682EFB96AF}"/>
              </a:ext>
            </a:extLst>
          </p:cNvPr>
          <p:cNvSpPr txBox="1"/>
          <p:nvPr/>
        </p:nvSpPr>
        <p:spPr>
          <a:xfrm>
            <a:off x="6286500" y="5730876"/>
            <a:ext cx="5640893" cy="56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정성: [사용자/스테이크홀더 피드백]</a:t>
            </a:r>
            <a:endParaRPr lang="en-US" sz="12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F1AD9F3-5302-9868-C0D3-E1F4B5B06DAA}"/>
              </a:ext>
            </a:extLst>
          </p:cNvPr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61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1EE6-3375-8B6B-D37B-9CAF1529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4B3A228-EF58-BD8C-B7AD-D64E648CD5DB}"/>
              </a:ext>
            </a:extLst>
          </p:cNvPr>
          <p:cNvSpPr txBox="1"/>
          <p:nvPr/>
        </p:nvSpPr>
        <p:spPr>
          <a:xfrm>
            <a:off x="457200" y="333756"/>
            <a:ext cx="1819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E049E9-1D10-47DC-A4B8-BF7463D76A6D}"/>
              </a:ext>
            </a:extLst>
          </p:cNvPr>
          <p:cNvSpPr txBox="1"/>
          <p:nvPr/>
        </p:nvSpPr>
        <p:spPr>
          <a:xfrm>
            <a:off x="457199" y="868680"/>
            <a:ext cx="90083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 | [기간] · [역할/책임]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7735D6-B9CE-A478-D671-599965AED89D}"/>
              </a:ext>
            </a:extLst>
          </p:cNvPr>
          <p:cNvSpPr/>
          <p:nvPr/>
        </p:nvSpPr>
        <p:spPr>
          <a:xfrm>
            <a:off x="457200" y="1383487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54CF344-878F-E436-D87D-2682875690FB}"/>
              </a:ext>
            </a:extLst>
          </p:cNvPr>
          <p:cNvSpPr/>
          <p:nvPr/>
        </p:nvSpPr>
        <p:spPr>
          <a:xfrm>
            <a:off x="457200" y="2099050"/>
            <a:ext cx="11277295" cy="724205"/>
          </a:xfrm>
          <a:prstGeom prst="roundRect">
            <a:avLst>
              <a:gd name="adj" fmla="val 996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7620145-4FE0-D691-57B8-5A703EA8EC34}"/>
              </a:ext>
            </a:extLst>
          </p:cNvPr>
          <p:cNvSpPr/>
          <p:nvPr/>
        </p:nvSpPr>
        <p:spPr>
          <a:xfrm>
            <a:off x="761695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08CA8A0-D7C6-4BEC-60B0-ABF8DEDE0174}"/>
              </a:ext>
            </a:extLst>
          </p:cNvPr>
          <p:cNvSpPr/>
          <p:nvPr/>
        </p:nvSpPr>
        <p:spPr>
          <a:xfrm>
            <a:off x="4403155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CFF8EAF-AA2B-779E-204F-2846EEC6F7D3}"/>
              </a:ext>
            </a:extLst>
          </p:cNvPr>
          <p:cNvSpPr/>
          <p:nvPr/>
        </p:nvSpPr>
        <p:spPr>
          <a:xfrm>
            <a:off x="8326553" y="22622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AED20A-AF09-D16A-E46B-19B22FE0ED40}"/>
              </a:ext>
            </a:extLst>
          </p:cNvPr>
          <p:cNvSpPr txBox="1"/>
          <p:nvPr/>
        </p:nvSpPr>
        <p:spPr>
          <a:xfrm>
            <a:off x="1256385" y="2252167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4DA9651-BF59-9B34-7F9D-841DA709222F}"/>
              </a:ext>
            </a:extLst>
          </p:cNvPr>
          <p:cNvSpPr txBox="1"/>
          <p:nvPr/>
        </p:nvSpPr>
        <p:spPr>
          <a:xfrm>
            <a:off x="4898760" y="225216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3F4417-8A5C-0864-5720-FADA01C65CEF}"/>
              </a:ext>
            </a:extLst>
          </p:cNvPr>
          <p:cNvSpPr txBox="1"/>
          <p:nvPr/>
        </p:nvSpPr>
        <p:spPr>
          <a:xfrm>
            <a:off x="8821243" y="2252167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53871D1-4A3B-770D-93AC-9CE0F98C41F2}"/>
              </a:ext>
            </a:extLst>
          </p:cNvPr>
          <p:cNvSpPr txBox="1"/>
          <p:nvPr/>
        </p:nvSpPr>
        <p:spPr>
          <a:xfrm>
            <a:off x="1256385" y="2480767"/>
            <a:ext cx="294071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[리서치/문제정의]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114D37-29E8-FCA7-836F-3BDF6C5EDE06}"/>
              </a:ext>
            </a:extLst>
          </p:cNvPr>
          <p:cNvSpPr txBox="1"/>
          <p:nvPr/>
        </p:nvSpPr>
        <p:spPr>
          <a:xfrm>
            <a:off x="4898760" y="2480767"/>
            <a:ext cx="314585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[우선순위/실행]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DF65A2-4DF8-B3BA-56EE-56E421F1FE64}"/>
              </a:ext>
            </a:extLst>
          </p:cNvPr>
          <p:cNvSpPr txBox="1"/>
          <p:nvPr/>
        </p:nvSpPr>
        <p:spPr>
          <a:xfrm>
            <a:off x="8821243" y="2480767"/>
            <a:ext cx="270421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[출시/학습]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41B1B9E-EA9E-3D9B-FC6D-31EA246B9684}"/>
              </a:ext>
            </a:extLst>
          </p:cNvPr>
          <p:cNvSpPr/>
          <p:nvPr/>
        </p:nvSpPr>
        <p:spPr>
          <a:xfrm>
            <a:off x="457200" y="327114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FD6B49-9BD8-70BC-F8E8-753E998AC92F}"/>
              </a:ext>
            </a:extLst>
          </p:cNvPr>
          <p:cNvSpPr txBox="1"/>
          <p:nvPr/>
        </p:nvSpPr>
        <p:spPr>
          <a:xfrm>
            <a:off x="761695" y="3256514"/>
            <a:ext cx="833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배경/목표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DBBB84B-F8FD-2264-8E68-2E1AB83E7035}"/>
              </a:ext>
            </a:extLst>
          </p:cNvPr>
          <p:cNvSpPr txBox="1"/>
          <p:nvPr/>
        </p:nvSpPr>
        <p:spPr>
          <a:xfrm>
            <a:off x="6590995" y="3256514"/>
            <a:ext cx="1224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지표(KPI)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FE30B50-5568-5DC0-DF15-32E9BBEFCF2E}"/>
              </a:ext>
            </a:extLst>
          </p:cNvPr>
          <p:cNvSpPr txBox="1"/>
          <p:nvPr/>
        </p:nvSpPr>
        <p:spPr>
          <a:xfrm>
            <a:off x="457199" y="3628674"/>
            <a:ext cx="4701845" cy="53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[비즈니스/사용자 문제 요약]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12F9043-C62D-507D-9EE9-50C6BB643CCF}"/>
              </a:ext>
            </a:extLst>
          </p:cNvPr>
          <p:cNvSpPr txBox="1"/>
          <p:nvPr/>
        </p:nvSpPr>
        <p:spPr>
          <a:xfrm>
            <a:off x="457199" y="4220285"/>
            <a:ext cx="5009103" cy="538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[목표/핵심 가설]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3C98E3-8230-EB17-F05B-DF0DC006C4F1}"/>
              </a:ext>
            </a:extLst>
          </p:cNvPr>
          <p:cNvSpPr/>
          <p:nvPr/>
        </p:nvSpPr>
        <p:spPr>
          <a:xfrm>
            <a:off x="457200" y="504809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CF7C389-BD5B-9603-C077-F14299B2683B}"/>
              </a:ext>
            </a:extLst>
          </p:cNvPr>
          <p:cNvSpPr txBox="1"/>
          <p:nvPr/>
        </p:nvSpPr>
        <p:spPr>
          <a:xfrm>
            <a:off x="761695" y="5033461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범위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4305FB4-9A03-A0E1-B31A-63CFCE51C5E5}"/>
              </a:ext>
            </a:extLst>
          </p:cNvPr>
          <p:cNvSpPr txBox="1"/>
          <p:nvPr/>
        </p:nvSpPr>
        <p:spPr>
          <a:xfrm>
            <a:off x="6590995" y="4958091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결과/임팩트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92E9EE5-26D1-02B3-2CA7-1C0903FC746C}"/>
              </a:ext>
            </a:extLst>
          </p:cNvPr>
          <p:cNvSpPr txBox="1"/>
          <p:nvPr/>
        </p:nvSpPr>
        <p:spPr>
          <a:xfrm>
            <a:off x="457200" y="5404706"/>
            <a:ext cx="5171846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[참여 팀/이해관계자]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A723CDC-9F79-0285-D192-D27978848F6E}"/>
              </a:ext>
            </a:extLst>
          </p:cNvPr>
          <p:cNvSpPr/>
          <p:nvPr/>
        </p:nvSpPr>
        <p:spPr>
          <a:xfrm>
            <a:off x="6286500" y="327114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A73DEFD-8BF8-2D5A-334F-002944ABFE37}"/>
              </a:ext>
            </a:extLst>
          </p:cNvPr>
          <p:cNvSpPr/>
          <p:nvPr/>
        </p:nvSpPr>
        <p:spPr>
          <a:xfrm>
            <a:off x="6286500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ECFB938-8F41-732F-FDD1-3A3F2481DAD1}"/>
              </a:ext>
            </a:extLst>
          </p:cNvPr>
          <p:cNvSpPr/>
          <p:nvPr/>
        </p:nvSpPr>
        <p:spPr>
          <a:xfrm>
            <a:off x="8153705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D922990-C9CB-2A29-30A9-3243A48D891A}"/>
              </a:ext>
            </a:extLst>
          </p:cNvPr>
          <p:cNvSpPr/>
          <p:nvPr/>
        </p:nvSpPr>
        <p:spPr>
          <a:xfrm>
            <a:off x="10019995" y="3628674"/>
            <a:ext cx="1714500" cy="981151"/>
          </a:xfrm>
          <a:prstGeom prst="roundRect">
            <a:avLst>
              <a:gd name="adj" fmla="val 542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209CB7A-6095-9235-8172-870DCFF7B32A}"/>
              </a:ext>
            </a:extLst>
          </p:cNvPr>
          <p:cNvSpPr txBox="1"/>
          <p:nvPr/>
        </p:nvSpPr>
        <p:spPr>
          <a:xfrm>
            <a:off x="6409944" y="3752118"/>
            <a:ext cx="159105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53D2CA9-58A4-625A-F585-6AA7C010F615}"/>
              </a:ext>
            </a:extLst>
          </p:cNvPr>
          <p:cNvSpPr txBox="1"/>
          <p:nvPr/>
        </p:nvSpPr>
        <p:spPr>
          <a:xfrm>
            <a:off x="8277148" y="3752118"/>
            <a:ext cx="14998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D28921D-34F1-C021-42D9-403F4A6B756A}"/>
              </a:ext>
            </a:extLst>
          </p:cNvPr>
          <p:cNvSpPr txBox="1"/>
          <p:nvPr/>
        </p:nvSpPr>
        <p:spPr>
          <a:xfrm>
            <a:off x="10144353" y="3752118"/>
            <a:ext cx="1381105" cy="18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D212A54-EA76-AD7D-F87F-5BDE768FD5C0}"/>
              </a:ext>
            </a:extLst>
          </p:cNvPr>
          <p:cNvSpPr txBox="1"/>
          <p:nvPr/>
        </p:nvSpPr>
        <p:spPr>
          <a:xfrm>
            <a:off x="6409944" y="3989862"/>
            <a:ext cx="1591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F3B2FCA-E9B3-4BEE-75E0-AFF83ACA644C}"/>
              </a:ext>
            </a:extLst>
          </p:cNvPr>
          <p:cNvSpPr txBox="1"/>
          <p:nvPr/>
        </p:nvSpPr>
        <p:spPr>
          <a:xfrm>
            <a:off x="8277149" y="3989862"/>
            <a:ext cx="14998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A5C8A61-01E5-ED25-DC0F-7041E4DF6D45}"/>
              </a:ext>
            </a:extLst>
          </p:cNvPr>
          <p:cNvSpPr txBox="1"/>
          <p:nvPr/>
        </p:nvSpPr>
        <p:spPr>
          <a:xfrm>
            <a:off x="10144354" y="3989862"/>
            <a:ext cx="15117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[값/변화]</a:t>
            </a:r>
            <a:endParaRPr lang="en-US" sz="15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FAAA6C0-2220-652E-9E17-D06A72B40806}"/>
              </a:ext>
            </a:extLst>
          </p:cNvPr>
          <p:cNvSpPr txBox="1"/>
          <p:nvPr/>
        </p:nvSpPr>
        <p:spPr>
          <a:xfrm>
            <a:off x="6409944" y="4314474"/>
            <a:ext cx="1527048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6E52BA9-FC49-46F9-C386-A63A26DE90E2}"/>
              </a:ext>
            </a:extLst>
          </p:cNvPr>
          <p:cNvSpPr txBox="1"/>
          <p:nvPr/>
        </p:nvSpPr>
        <p:spPr>
          <a:xfrm>
            <a:off x="8277149" y="4314474"/>
            <a:ext cx="1499896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F8F7AE3-4C7C-72AB-191C-35011C1EC191}"/>
              </a:ext>
            </a:extLst>
          </p:cNvPr>
          <p:cNvSpPr txBox="1"/>
          <p:nvPr/>
        </p:nvSpPr>
        <p:spPr>
          <a:xfrm>
            <a:off x="10144354" y="4314474"/>
            <a:ext cx="1381104" cy="18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[설명/기간]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017A009-DEB3-558A-2D24-1A0312655F79}"/>
              </a:ext>
            </a:extLst>
          </p:cNvPr>
          <p:cNvSpPr/>
          <p:nvPr/>
        </p:nvSpPr>
        <p:spPr>
          <a:xfrm>
            <a:off x="6286500" y="497272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5A5A18A-1317-2B54-8B56-81F3AF21A33D}"/>
              </a:ext>
            </a:extLst>
          </p:cNvPr>
          <p:cNvSpPr txBox="1"/>
          <p:nvPr/>
        </p:nvSpPr>
        <p:spPr>
          <a:xfrm>
            <a:off x="6286500" y="533025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정량: [결과 수치]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C552248-8A05-37AF-A058-49674A2CDE2F}"/>
              </a:ext>
            </a:extLst>
          </p:cNvPr>
          <p:cNvSpPr txBox="1"/>
          <p:nvPr/>
        </p:nvSpPr>
        <p:spPr>
          <a:xfrm>
            <a:off x="6286500" y="5730876"/>
            <a:ext cx="5640893" cy="565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정성: [사용자/스테이크홀더 피드백]</a:t>
            </a:r>
            <a:endParaRPr lang="en-US" sz="12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C262192-143D-524D-0785-137A139C8640}"/>
              </a:ext>
            </a:extLst>
          </p:cNvPr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51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333756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 및 도구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07085"/>
            <a:ext cx="23152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소개 문구/한 줄 요약]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20978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75016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61695" y="1735531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90995" y="1735531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도구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0004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91876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363839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435711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507674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5995" y="2145182"/>
            <a:ext cx="4881710" cy="2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[전략/로드맵]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5995" y="2863901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[Discovery/리서치]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3583534"/>
            <a:ext cx="4881710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[Delivery/실행]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4302252"/>
            <a:ext cx="4881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[데이터/실험]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" y="502188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[커뮤니케이션/리더십]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75995" y="2373782"/>
            <a:ext cx="4953306" cy="16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[비전 정의 · 우선순위 · 로드맵]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75995" y="3092501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[문제 정의 · 사용자 리서치]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75994" y="3812134"/>
            <a:ext cx="4881709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[백로그 · 스프린트 · 릴리즈]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4530852"/>
            <a:ext cx="4881708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[분석 · 실험 설계 · 인사이트]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5250485"/>
            <a:ext cx="495330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[정렬 · 의사결정 · 스테이크홀더]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35301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3354934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4073652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793285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5512003"/>
            <a:ext cx="5447995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2635301"/>
            <a:ext cx="4362602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354934"/>
            <a:ext cx="3819449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4073652"/>
            <a:ext cx="4086454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57200" y="4793285"/>
            <a:ext cx="3543300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57200" y="5512003"/>
            <a:ext cx="4638751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286500" y="175016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286500" y="2145182"/>
            <a:ext cx="2609698" cy="1133856"/>
          </a:xfrm>
          <a:prstGeom prst="roundRect">
            <a:avLst>
              <a:gd name="adj" fmla="val 406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124798" y="2145182"/>
            <a:ext cx="2609698" cy="1133856"/>
          </a:xfrm>
          <a:prstGeom prst="roundRect">
            <a:avLst>
              <a:gd name="adj" fmla="val 406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286500" y="3502152"/>
            <a:ext cx="2609698" cy="1133856"/>
          </a:xfrm>
          <a:prstGeom prst="roundRect">
            <a:avLst>
              <a:gd name="adj" fmla="val 406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124798" y="3502152"/>
            <a:ext cx="2609698" cy="1133856"/>
          </a:xfrm>
          <a:prstGeom prst="roundRect">
            <a:avLst>
              <a:gd name="adj" fmla="val 406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448349" y="230703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286646" y="230703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448349" y="366400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286646" y="366400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6867144" y="2345436"/>
            <a:ext cx="1105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Product/Task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706356" y="2345436"/>
            <a:ext cx="619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867144" y="3702406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706356" y="3702406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협업/문서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448349" y="2688336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[Jira · Linear · Asana]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286646" y="2688336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[Figma · Sketch]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48349" y="4045306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[Amplitude · GA · SQL]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286646" y="4045306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[Notion · Slack]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448349" y="2926080"/>
            <a:ext cx="11795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[로드맵/백로그 관리]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286646" y="2926080"/>
            <a:ext cx="14840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[와이어프레임/프로토타입]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6448349" y="4283050"/>
            <a:ext cx="12079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 분석/실험 설계]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286646" y="4283050"/>
            <a:ext cx="10268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[문서화/의사소통]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5893308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457200" y="6131052"/>
            <a:ext cx="833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인증/교육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57199" y="6502298"/>
            <a:ext cx="530050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[자격/교육명] — [기관/연도]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4335793" y="6508699"/>
            <a:ext cx="571248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[자격/교육명] — [기관/연도]</a:t>
            </a:r>
            <a:endParaRPr lang="en-US" sz="1200" dirty="0"/>
          </a:p>
        </p:txBody>
      </p:sp>
      <p:sp>
        <p:nvSpPr>
          <p:cNvPr id="61" name="Text 56">
            <a:extLst>
              <a:ext uri="{FF2B5EF4-FFF2-40B4-BE49-F238E27FC236}">
                <a16:creationId xmlns:a16="http://schemas.microsoft.com/office/drawing/2014/main" id="{2B79DACC-25B5-74D1-2C60-04190101AB73}"/>
              </a:ext>
            </a:extLst>
          </p:cNvPr>
          <p:cNvSpPr txBox="1"/>
          <p:nvPr/>
        </p:nvSpPr>
        <p:spPr>
          <a:xfrm>
            <a:off x="8444022" y="6512406"/>
            <a:ext cx="571248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[자격/교육명] — [기관/연도]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22646" y="554819"/>
            <a:ext cx="1209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92631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2196389"/>
            <a:ext cx="6420002" cy="1876349"/>
          </a:xfrm>
          <a:prstGeom prst="roundRect">
            <a:avLst>
              <a:gd name="adj" fmla="val 197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94944" y="243413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152144" y="2434133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3" y="2634386"/>
            <a:ext cx="2023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1044" y="243413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238244" y="2434133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238244" y="2634386"/>
            <a:ext cx="24037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" y="311993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152144" y="3119933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3320186"/>
            <a:ext cx="24377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[전화번호]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81044" y="3119933"/>
            <a:ext cx="267005" cy="342900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159606" y="3119933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159606" y="3320186"/>
            <a:ext cx="2147926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[포트폴리오] · [LinkedIn] · [GitHub/Blog]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58507" y="2196389"/>
            <a:ext cx="4476902" cy="2885846"/>
          </a:xfrm>
          <a:prstGeom prst="roundRect">
            <a:avLst>
              <a:gd name="adj" fmla="val 83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449056" y="2434133"/>
            <a:ext cx="2095805" cy="2095805"/>
          </a:xfrm>
          <a:prstGeom prst="roundRect">
            <a:avLst>
              <a:gd name="adj" fmla="val 1190"/>
            </a:avLst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076334" y="3382366"/>
            <a:ext cx="948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[QR 코드 자리]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541410" y="4644238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QR로 포트폴리오/링크 접속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876849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6077102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38505" y="6077102"/>
            <a:ext cx="1291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사용 가능 언어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8505" y="6277356"/>
            <a:ext cx="1672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 1] · [언어 2] · [언어 3]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2194" y="6077102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673498" y="6077102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근무 형태 / 희망 근무지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673498" y="6277356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[원격/상주] · [도시/지역]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28102" y="6077102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509406" y="6077102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비고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509406" y="6277356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[개인정보 처리 동의 문구 등]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772</Words>
  <Application>Microsoft Macintosh PowerPoint</Application>
  <PresentationFormat>와이드스크린</PresentationFormat>
  <Paragraphs>158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최필립[ 학부재학 / 경영학과 ]</cp:lastModifiedBy>
  <cp:revision>2</cp:revision>
  <dcterms:created xsi:type="dcterms:W3CDTF">2025-11-16T20:14:57Z</dcterms:created>
  <dcterms:modified xsi:type="dcterms:W3CDTF">2025-11-17T03:30:53Z</dcterms:modified>
</cp:coreProperties>
</file>